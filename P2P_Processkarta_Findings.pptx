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Processkarta: Inköp-till-betalning (P2P)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Identifierade findings och deras koppling till processflödet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08792" cy="12700"/>
          </a:xfrm>
          <a:prstGeom prst="rect">
            <a:avLst/>
          </a:prstGeom>
          <a:solidFill>
            <a:srgbClr val="D5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7503" y="1234440"/>
            <a:ext cx="1188720" cy="6583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Behov</a:t>
            </a:r>
            <a:br/>
            <a:r>
              <a:t>uppstår</a:t>
            </a:r>
          </a:p>
        </p:txBody>
      </p:sp>
      <p:sp>
        <p:nvSpPr>
          <p:cNvPr id="7" name="Chevron 6"/>
          <p:cNvSpPr/>
          <p:nvPr/>
        </p:nvSpPr>
        <p:spPr>
          <a:xfrm>
            <a:off x="2248223" y="1435608"/>
            <a:ext cx="288608" cy="256032"/>
          </a:xfrm>
          <a:prstGeom prst="chevron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38831" y="1234440"/>
            <a:ext cx="1188720" cy="6583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Upphandling</a:t>
            </a:r>
            <a:br/>
            <a:r>
              <a:t>/ avtal</a:t>
            </a:r>
          </a:p>
        </p:txBody>
      </p:sp>
      <p:sp>
        <p:nvSpPr>
          <p:cNvPr id="9" name="Chevron 8"/>
          <p:cNvSpPr/>
          <p:nvPr/>
        </p:nvSpPr>
        <p:spPr>
          <a:xfrm>
            <a:off x="3729551" y="1435608"/>
            <a:ext cx="288608" cy="256032"/>
          </a:xfrm>
          <a:prstGeom prst="chevron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0159" y="1234440"/>
            <a:ext cx="1188720" cy="6583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Beställning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5210879" y="1435608"/>
            <a:ext cx="288608" cy="256032"/>
          </a:xfrm>
          <a:prstGeom prst="chevron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01487" y="1234440"/>
            <a:ext cx="1188720" cy="6583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Mottagning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6692207" y="1435608"/>
            <a:ext cx="288608" cy="256032"/>
          </a:xfrm>
          <a:prstGeom prst="chevron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2815" y="1234440"/>
            <a:ext cx="1188720" cy="6583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Faktura</a:t>
            </a:r>
          </a:p>
        </p:txBody>
      </p:sp>
      <p:sp>
        <p:nvSpPr>
          <p:cNvPr id="15" name="Chevron 14"/>
          <p:cNvSpPr/>
          <p:nvPr/>
        </p:nvSpPr>
        <p:spPr>
          <a:xfrm>
            <a:off x="8173535" y="1435608"/>
            <a:ext cx="288608" cy="256032"/>
          </a:xfrm>
          <a:prstGeom prst="chevron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64143" y="1234440"/>
            <a:ext cx="1188720" cy="6583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Attest</a:t>
            </a:r>
          </a:p>
        </p:txBody>
      </p:sp>
      <p:sp>
        <p:nvSpPr>
          <p:cNvPr id="17" name="Chevron 16"/>
          <p:cNvSpPr/>
          <p:nvPr/>
        </p:nvSpPr>
        <p:spPr>
          <a:xfrm>
            <a:off x="9654863" y="1435608"/>
            <a:ext cx="288608" cy="256032"/>
          </a:xfrm>
          <a:prstGeom prst="chevron">
            <a:avLst/>
          </a:prstGeom>
          <a:solidFill>
            <a:srgbClr val="B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45471" y="1234440"/>
            <a:ext cx="1188720" cy="65836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Betalning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7503" y="2057400"/>
            <a:ext cx="10076688" cy="347472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Uppföljning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423160"/>
            <a:ext cx="4614519" cy="53035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600" y="2542032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478024"/>
            <a:ext cx="161508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Calibri"/>
              </a:defRPr>
            </a:pPr>
            <a:r>
              <a:t>Ingen styrd väg från behov till köp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3761" y="2478024"/>
            <a:ext cx="258795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Det finns en ingång för behov, men inte ett styrt beställningsflöde som leder till rätt leverantör, rätt avtal och rätt pris.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026664"/>
            <a:ext cx="4614519" cy="53035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8600" y="314553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81528"/>
            <a:ext cx="161508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Calibri"/>
              </a:defRPr>
            </a:pPr>
            <a:r>
              <a:t>Svagt stöd för köp på avtal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3761" y="3081528"/>
            <a:ext cx="258795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Det är svårt att hitta och använda rätt avtal i vardagen, vilket driver köp utanför avtal.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38831" y="3630168"/>
            <a:ext cx="8595360" cy="53035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8600" y="3749040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5991" y="3685032"/>
            <a:ext cx="30083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Calibri"/>
              </a:defRPr>
            </a:pPr>
            <a:r>
              <a:t>Splittrad avtals- och leverantörsinformation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1527" y="3685032"/>
            <a:ext cx="51755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Ingen sammanhållen koppling mellan inköp, avtal och ekonomi försvårar spårbarhet och uppföljning.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0159" y="4233672"/>
            <a:ext cx="7114032" cy="53035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28600" y="4352544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7319" y="4288536"/>
            <a:ext cx="248991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Calibri"/>
              </a:defRPr>
            </a:pPr>
            <a:r>
              <a:t>Manuella och svårt överblickbara arbetsflöden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390" y="4288536"/>
            <a:ext cx="4212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Excel, mejl, Teams och personberoende arbetssätt försvårar översikt, status och skalbarhet.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01487" y="4837176"/>
            <a:ext cx="5632704" cy="53035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8600" y="4956048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8647" y="4892040"/>
            <a:ext cx="197144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Calibri"/>
              </a:defRPr>
            </a:pPr>
            <a:r>
              <a:t>Otydliga ansvar och varierande arbetssätt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7253" y="4892040"/>
            <a:ext cx="324977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Roller arbetar olika och ansvar är inte alltid tydligt definierade, vilket försvårar återkoppling och konsekvent hantering.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04991" y="5440680"/>
            <a:ext cx="5029200" cy="53035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8600" y="5559552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2151" y="5495544"/>
            <a:ext cx="17602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Calibri"/>
              </a:defRPr>
            </a:pPr>
            <a:r>
              <a:t>Kontrollen kommer först vid fakturan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9531" y="5495544"/>
            <a:ext cx="28575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Avvikelser och fel upptäcks sent, vilket gör kontrollen reaktiv och försvårar internkontroll och tidig felupptäckt.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7503" y="6044184"/>
            <a:ext cx="10076688" cy="53035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28600" y="616305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4663" y="609904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Calibri"/>
              </a:defRPr>
            </a:pPr>
            <a:r>
              <a:t>Splittrad data för budget, prognos och uppföljning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3663" y="6099048"/>
            <a:ext cx="6373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Utfall, personal, verksamhet och planering finns i flera system och i Excel, vilket försvårar analys, prognoser och scenarier.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6492240"/>
            <a:ext cx="10908792" cy="9525"/>
          </a:xfrm>
          <a:prstGeom prst="rect">
            <a:avLst/>
          </a:prstGeom>
          <a:solidFill>
            <a:srgbClr val="D5D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537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Konfidentiellt  |  Processkartläggning P2P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6537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Calibri"/>
              </a:defRPr>
            </a:pPr>
            <a:r>
              <a:t>Källa: Intern analys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