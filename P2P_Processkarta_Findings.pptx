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Processkarta: Inköp-till-betalning (P2P)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Identifierade findings och deras koppling till processflödet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10908792" cy="12700"/>
          </a:xfrm>
          <a:prstGeom prst="rect">
            <a:avLst/>
          </a:prstGeom>
          <a:solidFill>
            <a:srgbClr val="D5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447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Behov</a:t>
            </a:r>
            <a:br/>
            <a:r>
              <a:t>uppstår</a:t>
            </a:r>
          </a:p>
        </p:txBody>
      </p:sp>
      <p:sp>
        <p:nvSpPr>
          <p:cNvPr id="7" name="Chevron 6"/>
          <p:cNvSpPr/>
          <p:nvPr/>
        </p:nvSpPr>
        <p:spPr>
          <a:xfrm>
            <a:off x="1727015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7623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Upphandling</a:t>
            </a:r>
            <a:br/>
            <a:r>
              <a:t>/ avtal</a:t>
            </a:r>
          </a:p>
        </p:txBody>
      </p:sp>
      <p:sp>
        <p:nvSpPr>
          <p:cNvPr id="9" name="Chevron 8"/>
          <p:cNvSpPr/>
          <p:nvPr/>
        </p:nvSpPr>
        <p:spPr>
          <a:xfrm>
            <a:off x="3135191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5799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Beställning</a:t>
            </a:r>
          </a:p>
        </p:txBody>
      </p:sp>
      <p:sp>
        <p:nvSpPr>
          <p:cNvPr id="11" name="Chevron 10"/>
          <p:cNvSpPr/>
          <p:nvPr/>
        </p:nvSpPr>
        <p:spPr>
          <a:xfrm>
            <a:off x="4543367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33975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Mottagning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5951543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42151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Faktura</a:t>
            </a:r>
          </a:p>
        </p:txBody>
      </p:sp>
      <p:sp>
        <p:nvSpPr>
          <p:cNvPr id="15" name="Chevron 14"/>
          <p:cNvSpPr/>
          <p:nvPr/>
        </p:nvSpPr>
        <p:spPr>
          <a:xfrm>
            <a:off x="7359719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0327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Attest</a:t>
            </a:r>
          </a:p>
        </p:txBody>
      </p:sp>
      <p:sp>
        <p:nvSpPr>
          <p:cNvPr id="17" name="Chevron 16"/>
          <p:cNvSpPr/>
          <p:nvPr/>
        </p:nvSpPr>
        <p:spPr>
          <a:xfrm>
            <a:off x="8767895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8503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Betalning</a:t>
            </a:r>
          </a:p>
        </p:txBody>
      </p:sp>
      <p:sp>
        <p:nvSpPr>
          <p:cNvPr id="19" name="Chevron 18"/>
          <p:cNvSpPr/>
          <p:nvPr/>
        </p:nvSpPr>
        <p:spPr>
          <a:xfrm>
            <a:off x="10176071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466679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Uppföljning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447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7623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5799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3975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2151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0327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8503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6679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2240280"/>
            <a:ext cx="3947007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28600" y="2359152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295144"/>
            <a:ext cx="13814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Ingen styrd väg från behov till köp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0132" y="2295144"/>
            <a:ext cx="215407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Det finns en ingång för behov, men inte ett styrt beställningsflöde som leder till rätt leverantör, rätt avtal och rätt pris.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2843784"/>
            <a:ext cx="3947007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28600" y="2962656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2898648"/>
            <a:ext cx="13814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Svagt stöd för köp på avtal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0132" y="2898648"/>
            <a:ext cx="215407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Det är svårt att hitta och använda rätt avtal i vardagen, vilket driver köp utanför avtal.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17623" y="3447288"/>
            <a:ext cx="9564624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28600" y="3566160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54783" y="3502152"/>
            <a:ext cx="3291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Splittrad avtals- och leverantörsinformation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83783" y="3502152"/>
            <a:ext cx="5861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Ingen sammanhållen koppling mellan inköp, avtal och ekonomi försvårar spårbarhet och uppföljning.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25799" y="4050792"/>
            <a:ext cx="6748272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28600" y="4169664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2959" y="4105656"/>
            <a:ext cx="236189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Manuella och svårt överblickbara arbetsflöden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2014" y="4105656"/>
            <a:ext cx="39748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Excel, mejl, Teams och personberoende arbetssätt försvårar översikt, status och skalbarhet.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33975" y="4654296"/>
            <a:ext cx="6748272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28600" y="4773168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71135" y="4709160"/>
            <a:ext cx="236189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Otydliga ansvar och varierande arbetssätt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70190" y="4709160"/>
            <a:ext cx="39748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Roller arbetar olika och ansvar är inte alltid tydligt definierade, vilket försvårar återkoppling och konsekvent hantering.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42151" y="5257800"/>
            <a:ext cx="5340096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28600" y="5376672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9311" y="5312664"/>
            <a:ext cx="186903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Kontrollen kommer först vid fakturan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5505" y="5312664"/>
            <a:ext cx="305958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Avvikelser och fel upptäcks sent, vilket gör kontrollen reaktiv och försvårar internkontroll och tidig felupptäckt.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53047" y="5861304"/>
            <a:ext cx="5029200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28600" y="5980176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0207" y="5916168"/>
            <a:ext cx="17602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Splittrad data för budget, prognos och uppföljning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87587" y="5916168"/>
            <a:ext cx="28575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Utfall, personal, verksamhet och planering finns i flera system och i Excel, vilket försvårar analys, prognoser och scenarier.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6492240"/>
            <a:ext cx="10908792" cy="9525"/>
          </a:xfrm>
          <a:prstGeom prst="rect">
            <a:avLst/>
          </a:prstGeom>
          <a:solidFill>
            <a:srgbClr val="D5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" y="6537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66666"/>
                </a:solidFill>
                <a:latin typeface="Calibri"/>
              </a:defRPr>
            </a:pPr>
            <a:r>
              <a:t>Konfidentiellt  |  Processkartläggning P2P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65379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666666"/>
                </a:solidFill>
                <a:latin typeface="Calibri"/>
              </a:defRPr>
            </a:pPr>
            <a:r>
              <a:t>Källa: Intern analys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