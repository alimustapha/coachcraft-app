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Processkarta: Inköp-till-betalning (P2P)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Identifierade findings och deras koppling till processflödet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10908792" cy="12700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Behov</a:t>
            </a:r>
            <a:br/>
            <a:r>
              <a:t>uppstår</a:t>
            </a:r>
          </a:p>
        </p:txBody>
      </p:sp>
      <p:sp>
        <p:nvSpPr>
          <p:cNvPr id="7" name="Chevron 6"/>
          <p:cNvSpPr/>
          <p:nvPr/>
        </p:nvSpPr>
        <p:spPr>
          <a:xfrm>
            <a:off x="172701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762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Upphandling</a:t>
            </a:r>
            <a:br/>
            <a:r>
              <a:t>/ avtal</a:t>
            </a:r>
          </a:p>
        </p:txBody>
      </p:sp>
      <p:sp>
        <p:nvSpPr>
          <p:cNvPr id="9" name="Chevron 8"/>
          <p:cNvSpPr/>
          <p:nvPr/>
        </p:nvSpPr>
        <p:spPr>
          <a:xfrm>
            <a:off x="313519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579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Beställning</a:t>
            </a:r>
          </a:p>
        </p:txBody>
      </p:sp>
      <p:sp>
        <p:nvSpPr>
          <p:cNvPr id="11" name="Chevron 10"/>
          <p:cNvSpPr/>
          <p:nvPr/>
        </p:nvSpPr>
        <p:spPr>
          <a:xfrm>
            <a:off x="4543367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33975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Mottagning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5951543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42151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Faktura</a:t>
            </a:r>
          </a:p>
        </p:txBody>
      </p:sp>
      <p:sp>
        <p:nvSpPr>
          <p:cNvPr id="15" name="Chevron 14"/>
          <p:cNvSpPr/>
          <p:nvPr/>
        </p:nvSpPr>
        <p:spPr>
          <a:xfrm>
            <a:off x="7359719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32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Attest</a:t>
            </a:r>
          </a:p>
        </p:txBody>
      </p:sp>
      <p:sp>
        <p:nvSpPr>
          <p:cNvPr id="17" name="Chevron 16"/>
          <p:cNvSpPr/>
          <p:nvPr/>
        </p:nvSpPr>
        <p:spPr>
          <a:xfrm>
            <a:off x="876789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850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Betalning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1017607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46667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Uppföljning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44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762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579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3975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151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032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850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667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" y="2569464"/>
            <a:ext cx="274320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" y="2423160"/>
            <a:ext cx="393192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447" y="2395728"/>
            <a:ext cx="254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15967" y="2395728"/>
            <a:ext cx="254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" y="247802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51460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Ingen styrd väg från behov till köp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1460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Det finns en ingång för behov, men inte ett styrt beställningsflöde som leder till rätt leverantör, rätt avtal och rätt pris.</a:t>
            </a:r>
          </a:p>
        </p:txBody>
      </p:sp>
      <p:sp>
        <p:nvSpPr>
          <p:cNvPr id="36" name="Oval 35"/>
          <p:cNvSpPr/>
          <p:nvPr/>
        </p:nvSpPr>
        <p:spPr>
          <a:xfrm>
            <a:off x="228600" y="3209544"/>
            <a:ext cx="274320" cy="27432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7623" y="3063240"/>
            <a:ext cx="2523744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17623" y="3035808"/>
            <a:ext cx="25400" cy="914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15967" y="3035808"/>
            <a:ext cx="25400" cy="914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94360" y="311810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315468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Svagt stöd för köp på avtal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315468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Det är svårt att hitta och använda rätt avtal i vardagen, vilket driver köp utanför avtal.</a:t>
            </a:r>
          </a:p>
        </p:txBody>
      </p:sp>
      <p:sp>
        <p:nvSpPr>
          <p:cNvPr id="43" name="Oval 42"/>
          <p:cNvSpPr/>
          <p:nvPr/>
        </p:nvSpPr>
        <p:spPr>
          <a:xfrm>
            <a:off x="228600" y="3849624"/>
            <a:ext cx="274320" cy="274320"/>
          </a:xfrm>
          <a:prstGeom prst="ellipse">
            <a:avLst/>
          </a:prstGeom>
          <a:solidFill>
            <a:srgbClr val="F08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7623" y="3703320"/>
            <a:ext cx="9564624" cy="36576"/>
          </a:xfrm>
          <a:prstGeom prst="rect">
            <a:avLst/>
          </a:prstGeom>
          <a:solidFill>
            <a:srgbClr val="F08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17623" y="3675888"/>
            <a:ext cx="25400" cy="91440"/>
          </a:xfrm>
          <a:prstGeom prst="rect">
            <a:avLst/>
          </a:prstGeom>
          <a:solidFill>
            <a:srgbClr val="F08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556847" y="3675888"/>
            <a:ext cx="25400" cy="91440"/>
          </a:xfrm>
          <a:prstGeom prst="rect">
            <a:avLst/>
          </a:prstGeom>
          <a:solidFill>
            <a:srgbClr val="F08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" y="375818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avtals- och leverantörsinformation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379476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Ingen sammanhållen koppling mellan inköp, avtal och ekonomi försvårar spårbarhet och uppföljning.</a:t>
            </a:r>
          </a:p>
        </p:txBody>
      </p:sp>
      <p:sp>
        <p:nvSpPr>
          <p:cNvPr id="50" name="Oval 49"/>
          <p:cNvSpPr/>
          <p:nvPr/>
        </p:nvSpPr>
        <p:spPr>
          <a:xfrm>
            <a:off x="228600" y="4489704"/>
            <a:ext cx="274320" cy="27432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5799" y="4343400"/>
            <a:ext cx="6748272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25799" y="4315968"/>
            <a:ext cx="25400" cy="914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48671" y="4315968"/>
            <a:ext cx="25400" cy="914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4360" y="439826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43484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Manuella och svårt överblickbara arbetsflöden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0" y="443484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Excel, mejl, Teams och personberoende arbetssätt försvårar översikt, status och skalbarhet.</a:t>
            </a:r>
          </a:p>
        </p:txBody>
      </p:sp>
      <p:sp>
        <p:nvSpPr>
          <p:cNvPr id="57" name="Oval 56"/>
          <p:cNvSpPr/>
          <p:nvPr/>
        </p:nvSpPr>
        <p:spPr>
          <a:xfrm>
            <a:off x="228600" y="5129784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33975" y="4983480"/>
            <a:ext cx="674827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33975" y="4956048"/>
            <a:ext cx="25400" cy="914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56847" y="4956048"/>
            <a:ext cx="25400" cy="914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94360" y="503834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07492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Otydliga ansvar och varierande arbetssätt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507492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Roller arbetar olika och ansvar är inte alltid tydligt definierade, vilket försvårar återkoppling och konsekvent hantering.</a:t>
            </a:r>
          </a:p>
        </p:txBody>
      </p:sp>
      <p:sp>
        <p:nvSpPr>
          <p:cNvPr id="64" name="Oval 63"/>
          <p:cNvSpPr/>
          <p:nvPr/>
        </p:nvSpPr>
        <p:spPr>
          <a:xfrm>
            <a:off x="228600" y="5769864"/>
            <a:ext cx="274320" cy="274320"/>
          </a:xfrm>
          <a:prstGeom prst="ellipse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151" y="5623560"/>
            <a:ext cx="5340096" cy="36576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2151" y="5596128"/>
            <a:ext cx="25400" cy="9144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556847" y="5596128"/>
            <a:ext cx="25400" cy="9144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94360" y="567842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71500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Kontrollen kommer först vid fakturan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571500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Avvikelser och fel upptäcks sent, vilket gör kontrollen reaktiv och försvårar internkontroll och tidig felupptäckt.</a:t>
            </a:r>
          </a:p>
        </p:txBody>
      </p:sp>
      <p:sp>
        <p:nvSpPr>
          <p:cNvPr id="71" name="Oval 70"/>
          <p:cNvSpPr/>
          <p:nvPr/>
        </p:nvSpPr>
        <p:spPr>
          <a:xfrm>
            <a:off x="228600" y="6409944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466679" y="6263640"/>
            <a:ext cx="1115568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66679" y="6236208"/>
            <a:ext cx="2540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556847" y="6236208"/>
            <a:ext cx="2540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94360" y="6318504"/>
            <a:ext cx="10972800" cy="49377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1520" y="6355080"/>
            <a:ext cx="3474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data för budget, prognos och uppföljning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97680" y="6355080"/>
            <a:ext cx="7086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Utfall, personal, verksamhet och planering finns i flera system och i Excel, vilket försvårar analys, prognoser och scenarier.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6492240"/>
            <a:ext cx="10908792" cy="9525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0080" y="6537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Konfidentiellt  |  Processkartläggning P2P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01200" y="6537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666666"/>
                </a:solidFill>
                <a:latin typeface="Calibri"/>
              </a:defRPr>
            </a:pPr>
            <a:r>
              <a:t>Källa: Intern analys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